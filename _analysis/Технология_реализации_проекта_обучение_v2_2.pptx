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2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4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70"/>
    <p:restoredTop sz="94610"/>
  </p:normalViewPr>
  <p:slideViewPr>
    <p:cSldViewPr snapToGrid="0" snapToObjects="1">
      <p:cViewPr>
        <p:scale>
          <a:sx n="190" d="100"/>
          <a:sy n="190" d="100"/>
        </p:scale>
        <p:origin x="-280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76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514B77">
              <a:alpha val="45000"/>
            </a:srgbClr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474720"/>
            <a:ext cx="2194560" cy="2194560"/>
          </a:xfrm>
          <a:prstGeom prst="ellipse">
            <a:avLst/>
          </a:prstGeom>
          <a:solidFill>
            <a:srgbClr val="3D988D">
              <a:alpha val="35000"/>
            </a:srgbClr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017520"/>
            <a:ext cx="1463040" cy="1463040"/>
          </a:xfrm>
          <a:prstGeom prst="ellipse">
            <a:avLst/>
          </a:prstGeom>
          <a:solidFill>
            <a:srgbClr val="25C7B4">
              <a:alpha val="40000"/>
            </a:srgbClr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73152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315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МЕНЕДЖЕРОВ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 проекта 1С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обследования до эксплуатации: как продавать и вести проект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343400"/>
            <a:ext cx="292608" cy="292608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343400"/>
            <a:ext cx="292608" cy="292608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5336" y="4343400"/>
            <a:ext cx="292608" cy="292608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0824" y="4343400"/>
            <a:ext cx="292608" cy="292608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4343400"/>
            <a:ext cx="292608" cy="292608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навыки менеджера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5080">
            <a:solidFill>
              <a:srgbClr val="3A44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07008"/>
            <a:ext cx="457200" cy="45720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17043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 языком бизнеса, не ИТ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17043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 интересует не «внедрение ERP», а рост прибыли, снижение ошибок, скорость закрытия периода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5080">
            <a:solidFill>
              <a:srgbClr val="3A44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75104"/>
            <a:ext cx="457200" cy="45720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9385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Картируй участников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19385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Нарисуй схему: кто ЛПР, кто Центр боли, кто Центр влияния, кто противник — и работай с каждым отдельно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5080">
            <a:solidFill>
              <a:srgbClr val="3A44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43200"/>
            <a:ext cx="457200" cy="45720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7066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Управляй ожиданиями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270662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 технологию на старте: «Мы не пишем ТЗ сразу — сначала видим AS IS, потом вместе рисуем TO BE»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5080">
            <a:solidFill>
              <a:srgbClr val="3A44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4747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Фиксируй всё письменно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34747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после каждой встречи, ДС на каждое изменение объёма. Устные договорённости — источник конфликтов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5080">
            <a:solidFill>
              <a:srgbClr val="3A44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279392"/>
            <a:ext cx="457200" cy="45720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424281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Создавай ценность совместно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424281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Продукт, созданный вместе с командой клиента, защищает себя сам — клиент не захочет отказываться от «своего»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918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проектного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корпоративный проект отличается от обычной продажи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vs обычная продажа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88720"/>
            <a:ext cx="3621024" cy="438912"/>
          </a:xfrm>
          <a:prstGeom prst="roundRect">
            <a:avLst>
              <a:gd name="adj" fmla="val 16667"/>
            </a:avLst>
          </a:prstGeom>
          <a:solidFill>
            <a:srgbClr val="717C86"/>
          </a:solidFill>
          <a:ln w="12700">
            <a:solidFill>
              <a:srgbClr val="71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ПРОДАЖА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цикл сделки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участника переговоров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продукт/лицензия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минимальны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 1 человек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виден быстро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05156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47488" y="1188720"/>
            <a:ext cx="3621024" cy="438912"/>
          </a:xfrm>
          <a:prstGeom prst="roundRect">
            <a:avLst>
              <a:gd name="adj" fmla="val 16667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188720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ПРОЕКТ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7488" y="17373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цикл (6–18+ месяцев)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участников, комитеты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Индивидуальное решение под задачу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Высокие риски для бизнеса клиента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Сложная цепочка принятия решений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трансформация процессов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в проектных продажах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6350">
            <a:solidFill>
              <a:srgbClr val="3A44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88720"/>
            <a:ext cx="457200" cy="45720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15214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 клиента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15214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Определить, подходит ли задача под наши компетенции и есть ли бюджет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6350">
            <a:solidFill>
              <a:srgbClr val="3A44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56816"/>
            <a:ext cx="457200" cy="45720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9202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встреч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9202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нужных участников: Центр боли, Центр влияния, ЛПР, Инвестор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6350">
            <a:solidFill>
              <a:srgbClr val="3A44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24912"/>
            <a:ext cx="457200" cy="45720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6883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болей и мотивов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68833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цели каждого участника, выявить союзников и противников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6350">
            <a:solidFill>
              <a:srgbClr val="3A44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4564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ожиданиями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45643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Объяснять клиенту технологию, чего ждать на каждом этапе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8412480" cy="676656"/>
          </a:xfrm>
          <a:prstGeom prst="roundRect">
            <a:avLst>
              <a:gd name="adj" fmla="val 12162"/>
            </a:avLst>
          </a:prstGeom>
          <a:solidFill>
            <a:srgbClr val="2A333E"/>
          </a:solidFill>
          <a:ln w="6350">
            <a:solidFill>
              <a:srgbClr val="3A44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261104"/>
            <a:ext cx="457200" cy="45720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422452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коммерческого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2245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Представить ценность проекта перед инвестором, закрыть возражения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918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 проекта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этапов от обследования до эксплуатации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этапов реализации проекта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Обследование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 IS анализ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09928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9928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09928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37944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37944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BE прототип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45536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45536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45536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ТЗ и разрывы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81144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81144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Код и тесты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16752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16752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44768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ОПЭ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1097280"/>
            <a:ext cx="1261872" cy="3611880"/>
          </a:xfrm>
          <a:prstGeom prst="roundRect">
            <a:avLst>
              <a:gd name="adj" fmla="val 8696"/>
            </a:avLst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12344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1828800"/>
            <a:ext cx="1261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0376" y="42519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7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0376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754880"/>
            <a:ext cx="8595360" cy="0"/>
          </a:xfrm>
          <a:prstGeom prst="line">
            <a:avLst/>
          </a:prstGeom>
          <a:noFill/>
          <a:ln w="19050">
            <a:solidFill>
              <a:srgbClr val="25C7B4"/>
            </a:solidFill>
            <a:prstDash val="dash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182880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длительность: 6–18+ месяцев в зависимости от масштаба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918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детально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Цели, задачи, результаты и роль менеджера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01: Обследование  ·  AS IS — понять текущие процессы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возможность реализации проекта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информацию для дальнейшей реализации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Обеспечить слаженность работы совместных команд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 целей проекта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Актуализация функциональных рамок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бизнес-процессов AS 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требований к автоматизации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целевой ИТ-архитектуры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дорожной карты проекта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отчёта об обследовании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01: Обследование  ·  AS IS — понять текущие процессы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бизнес-процессов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автоматизации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архитектура ИС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739896"/>
            <a:ext cx="274320" cy="27432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758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НСИ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379976"/>
            <a:ext cx="274320" cy="27432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159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Календарно-ресурсный план следующего этапа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договор и ДС на этап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аванс 50% от стоимости этапа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Организовать</a:t>
            </a:r>
            <a:r>
              <a:rPr lang="ru-RU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установочную </a:t>
            </a:r>
            <a:r>
              <a:rPr lang="en-US" sz="1200" dirty="0" err="1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встречу</a:t>
            </a: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команд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Следить за получением доступа к нужным людям клиента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Фиксировать договорённости по целям и рамкам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02: Моделирование  ·  TO BE — разработать прототип в 1С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прототип модели в системах 1С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требования в типовом функционале 1С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критичность функциональных разрывов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контрольных примеров — бизнес-кейсов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и настройка ИБ для моделирования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и настройка моделей процессов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модели и согласование вариантов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функциональных разрывов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Документирование результатов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02: Моделирование  ·  TO BE — разработать прототип в 1С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системы в типовом функционале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функциональных разрывов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демонстраций по блокам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739896"/>
            <a:ext cx="274320" cy="27432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758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Сводный отчёт о моделировании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D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ДС на этап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Организовать демонстрации по каждому функциональному блоку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Помочь нейтрализовать противников изменений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Фиксировать возражения и договорённости по разрывам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Управлять ожиданиями: объяснять, что такое ФР и почему </a:t>
            </a:r>
            <a:r>
              <a:rPr lang="en-US" sz="1200" dirty="0" err="1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</a:t>
            </a: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</a:t>
            </a:r>
            <a:r>
              <a:rPr lang="ru-RU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не важны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3883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03: Проектирование  ·  ТЗ и описание доработок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точное описание доработок для целевого функционала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способа реализации функциональных разрывов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интеграций и переноса данных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функциональности языком метаданных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макетов интерфейсов (при необходимости)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тестового примера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03: Проектирование  ·  ТЗ и описание доработок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задание (ТЗ)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контрольных примеров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тестирования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14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список разрывов к реализации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Зафиксировать ответственность по интеграциям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приёмо-сдачу работ этапа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Убедиться, что клиент понимает объём предстоящей разработки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04: Разработка  ·  Код, тестирование, интеграции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Устранить критические функциональные разрывы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систему к внедрению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кода по частным ТЗ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тестовых данных и сценариев тестирования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разработок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данных в предпродуктивную базу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 выверка перенесённых данных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временных интеграций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04: Разработка  ·  Код, тестирование, интеграции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система готова к внедрению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Удовлетворены требования к переносу данных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функциональные разрывы закрыты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Контролировать прохождение приёмо-сдаточных испытаний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Информировать клиента о статусе разработки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Фиксировать изменения объёма (scope creep) через ДС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дату перехода к этапу внедрения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05: Внедрение  ·  Запуск в опытно-промышленную эксплуатацию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систему и пользователей к ОПЭ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продуктивной базы, перенос из предпродуктива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данных, первоначальные настройки для ОПЭ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Итоговое тестирование системы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сотрудников Заказчика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системы НСИ и историческими данными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пользовательских инструкций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05: Внедрение  ·  Запуск в опытно-промышленную эксплуатацию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передана Заказчику и готова к работе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пользователи обучены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Организована поддержка на период ОПЭ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Организовать приёмку и подписание актов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Убедиться в готовности команды клиента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Зафиксировать условия опытной эксплуатации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условия поддержки и расширения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06: Эксплуатация  ·  Консультации, доработки, поддержка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ЭТАПА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Обеспечить стабильную работу системы после запуска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Сопровождать развитие системы в соответствии с нуждами бизнеса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ЭТАПА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Консультации пользователей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Доработка системы под новые требования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и мониторинг системы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03  ·  ЭТАП 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06: Эксплуатация  ·  Консультации, доработки, поддержка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ДЛЯ ЗАКАЗЧИКА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19656"/>
            <a:ext cx="274320" cy="274320"/>
          </a:xfrm>
          <a:prstGeom prst="ellipse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56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 работающая система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459736"/>
            <a:ext cx="274320" cy="274320"/>
          </a:xfrm>
          <a:prstGeom prst="ellipse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инцидентов и обращений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67328" cy="530352"/>
          </a:xfrm>
          <a:prstGeom prst="roundRect">
            <a:avLst>
              <a:gd name="adj" fmla="val 12069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9816"/>
            <a:ext cx="274320" cy="274320"/>
          </a:xfrm>
          <a:prstGeom prst="ellipse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Дальнейшее развитие функционала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181E24"/>
          </a:solidFill>
          <a:ln w="12700">
            <a:solidFill>
              <a:srgbClr val="181E2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98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0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МЕНЕДЖЕРА НА ЭТАПЕ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64208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клиента на договор поддержки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Предложить расширение на смежные контуры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Собирать обратную связь для развития отношений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референс-кейс для новых продаж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3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918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Риски, допущения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ограничения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говорить с клиентом о рисках проекта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E4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риски проекта и как их закрывать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16152"/>
            <a:ext cx="365760" cy="365760"/>
          </a:xfrm>
          <a:prstGeom prst="ellipse">
            <a:avLst/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170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Размытые цели и рамки проекта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078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Фиксируем цели письменно на Обследовании, согласуем с инвестором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16152"/>
            <a:ext cx="365760" cy="365760"/>
          </a:xfrm>
          <a:prstGeom prst="ellipse">
            <a:avLst/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1170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Сопротивление сотрудников клиента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0078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Выявляем противников на этапе Моделирования, превращаем в нейтралов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96312"/>
            <a:ext cx="365760" cy="365760"/>
          </a:xfrm>
          <a:prstGeom prst="ellipse">
            <a:avLst/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2450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объёма (scope creep)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8094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— отдельное ДС. Объясняем клиенту на старте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96312"/>
            <a:ext cx="365760" cy="365760"/>
          </a:xfrm>
          <a:prstGeom prst="ellipse">
            <a:avLst/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2450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Задержки со стороны заказчика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8094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Фиксируем в договоре ответственность сторон и штрафные санкции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76472"/>
            <a:ext cx="365760" cy="365760"/>
          </a:xfrm>
          <a:prstGeom prst="ellipse">
            <a:avLst/>
          </a:prstGeom>
          <a:solidFill>
            <a:srgbClr val="50B6A9"/>
          </a:solidFill>
          <a:ln w="12700">
            <a:solidFill>
              <a:srgbClr val="50B6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37307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Недостаточный бюджет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6110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Квалифицируем бюджет ДО обследования. Делаем поэтапное финансирование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39312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76472"/>
            <a:ext cx="365760" cy="365760"/>
          </a:xfrm>
          <a:prstGeom prst="ellipse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37307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ключевых участников клиента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206240"/>
            <a:ext cx="3794760" cy="0"/>
          </a:xfrm>
          <a:prstGeom prst="line">
            <a:avLst/>
          </a:prstGeom>
          <a:noFill/>
          <a:ln w="6350">
            <a:solidFill>
              <a:srgbClr val="E1E9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6110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Документируем всё, включаем в договор условия передачи знаний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918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и подходы для работы с заказчиком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5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менеджера по этапам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554480" cy="37673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16152"/>
            <a:ext cx="1408176" cy="411480"/>
          </a:xfrm>
          <a:prstGeom prst="roundRect">
            <a:avLst>
              <a:gd name="adj" fmla="val 15556"/>
            </a:avLst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1615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Обследование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7393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954" y="1725894"/>
            <a:ext cx="256032" cy="256032"/>
          </a:xfrm>
          <a:prstGeom prst="ellipse">
            <a:avLst/>
          </a:prstGeom>
          <a:solidFill>
            <a:srgbClr val="25C7B4">
              <a:alpha val="70000"/>
            </a:srgbClr>
          </a:solidFill>
          <a:ln w="6350">
            <a:solidFill>
              <a:srgbClr val="25C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подписан, аванс получен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73405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3954" y="2686014"/>
            <a:ext cx="256032" cy="256032"/>
          </a:xfrm>
          <a:prstGeom prst="ellipse">
            <a:avLst/>
          </a:prstGeom>
          <a:solidFill>
            <a:srgbClr val="25C7B4">
              <a:alpha val="70000"/>
            </a:srgbClr>
          </a:solidFill>
          <a:ln w="6350">
            <a:solidFill>
              <a:srgbClr val="25C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проекта зафиксированы письменно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69417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954" y="3646134"/>
            <a:ext cx="256032" cy="256032"/>
          </a:xfrm>
          <a:prstGeom prst="ellipse">
            <a:avLst/>
          </a:prstGeom>
          <a:solidFill>
            <a:srgbClr val="25C7B4">
              <a:alpha val="70000"/>
            </a:srgbClr>
          </a:solidFill>
          <a:ln w="6350">
            <a:solidFill>
              <a:srgbClr val="25C7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3989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познакомились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39112" y="1097280"/>
            <a:ext cx="1554480" cy="37673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12264" y="1216152"/>
            <a:ext cx="1408176" cy="411480"/>
          </a:xfrm>
          <a:prstGeom prst="roundRect">
            <a:avLst>
              <a:gd name="adj" fmla="val 15556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2264" y="121615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0552" y="177393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026" y="1725894"/>
            <a:ext cx="256032" cy="256032"/>
          </a:xfrm>
          <a:prstGeom prst="ellipse">
            <a:avLst/>
          </a:prstGeom>
          <a:solidFill>
            <a:srgbClr val="3D988D">
              <a:alpha val="70000"/>
            </a:srgbClr>
          </a:solidFill>
          <a:ln w="6350">
            <a:solidFill>
              <a:srgbClr val="3D98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18196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 на этап согласован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30552" y="273405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026" y="2686014"/>
            <a:ext cx="256032" cy="256032"/>
          </a:xfrm>
          <a:prstGeom prst="ellipse">
            <a:avLst/>
          </a:prstGeom>
          <a:solidFill>
            <a:srgbClr val="3D988D">
              <a:alpha val="70000"/>
            </a:srgbClr>
          </a:solidFill>
          <a:ln w="6350">
            <a:solidFill>
              <a:srgbClr val="3D98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27797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блоки продемонстрированы клиенту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30552" y="369417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43026" y="3646134"/>
            <a:ext cx="256032" cy="256032"/>
          </a:xfrm>
          <a:prstGeom prst="ellipse">
            <a:avLst/>
          </a:prstGeom>
          <a:solidFill>
            <a:srgbClr val="3D988D">
              <a:alpha val="70000"/>
            </a:srgbClr>
          </a:solidFill>
          <a:ln w="6350">
            <a:solidFill>
              <a:srgbClr val="3D98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373989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разрывов согласован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58184" y="1097280"/>
            <a:ext cx="1554480" cy="37673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31336" y="1216152"/>
            <a:ext cx="1408176" cy="411480"/>
          </a:xfrm>
          <a:prstGeom prst="roundRect">
            <a:avLst>
              <a:gd name="adj" fmla="val 15556"/>
            </a:avLst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31336" y="121615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9624" y="177393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62098" y="1725894"/>
            <a:ext cx="256032" cy="256032"/>
          </a:xfrm>
          <a:prstGeom prst="ellipse">
            <a:avLst/>
          </a:prstGeom>
          <a:solidFill>
            <a:srgbClr val="514B77">
              <a:alpha val="70000"/>
            </a:srgbClr>
          </a:solidFill>
          <a:ln w="6350">
            <a:solidFill>
              <a:srgbClr val="514B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5344" y="18196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подписано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9624" y="273405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2098" y="2686014"/>
            <a:ext cx="256032" cy="256032"/>
          </a:xfrm>
          <a:prstGeom prst="ellipse">
            <a:avLst/>
          </a:prstGeom>
          <a:solidFill>
            <a:srgbClr val="514B77">
              <a:alpha val="70000"/>
            </a:srgbClr>
          </a:solidFill>
          <a:ln w="6350">
            <a:solidFill>
              <a:srgbClr val="514B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95344" y="27797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 по интеграциям зафиксирована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9624" y="369417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62098" y="3646134"/>
            <a:ext cx="256032" cy="256032"/>
          </a:xfrm>
          <a:prstGeom prst="ellipse">
            <a:avLst/>
          </a:prstGeom>
          <a:solidFill>
            <a:srgbClr val="514B77">
              <a:alpha val="70000"/>
            </a:srgbClr>
          </a:solidFill>
          <a:ln w="6350">
            <a:solidFill>
              <a:srgbClr val="514B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95344" y="373989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разработки согласован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77256" y="1097280"/>
            <a:ext cx="1554480" cy="37673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50408" y="1216152"/>
            <a:ext cx="1408176" cy="411480"/>
          </a:xfrm>
          <a:prstGeom prst="roundRect">
            <a:avLst>
              <a:gd name="adj" fmla="val 15556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0408" y="121615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68696" y="177393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81170" y="1725894"/>
            <a:ext cx="256032" cy="256032"/>
          </a:xfrm>
          <a:prstGeom prst="ellipse">
            <a:avLst/>
          </a:prstGeom>
          <a:solidFill>
            <a:srgbClr val="CA4380">
              <a:alpha val="70000"/>
            </a:srgbClr>
          </a:solidFill>
          <a:ln w="6350">
            <a:solidFill>
              <a:srgbClr val="CA43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18196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 пройдены и подписаны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68696" y="273405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81170" y="2686014"/>
            <a:ext cx="256032" cy="256032"/>
          </a:xfrm>
          <a:prstGeom prst="ellipse">
            <a:avLst/>
          </a:prstGeom>
          <a:solidFill>
            <a:srgbClr val="CA4380">
              <a:alpha val="70000"/>
            </a:srgbClr>
          </a:solidFill>
          <a:ln w="6350">
            <a:solidFill>
              <a:srgbClr val="CA43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14416" y="27797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оформлен через ДС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68696" y="369417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81170" y="3646134"/>
            <a:ext cx="256032" cy="256032"/>
          </a:xfrm>
          <a:prstGeom prst="ellipse">
            <a:avLst/>
          </a:prstGeom>
          <a:solidFill>
            <a:srgbClr val="CA4380">
              <a:alpha val="70000"/>
            </a:srgbClr>
          </a:solidFill>
          <a:ln w="6350">
            <a:solidFill>
              <a:srgbClr val="CA43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373989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внедрения согласована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96328" y="1097280"/>
            <a:ext cx="1554480" cy="37673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1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69480" y="1216152"/>
            <a:ext cx="1408176" cy="411480"/>
          </a:xfrm>
          <a:prstGeom prst="roundRect">
            <a:avLst>
              <a:gd name="adj" fmla="val 15556"/>
            </a:avLst>
          </a:prstGeom>
          <a:solidFill>
            <a:srgbClr val="DE498A"/>
          </a:solidFill>
          <a:ln w="12700">
            <a:solidFill>
              <a:srgbClr val="DE49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9480" y="121615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87768" y="177393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00242" y="1725894"/>
            <a:ext cx="256032" cy="256032"/>
          </a:xfrm>
          <a:prstGeom prst="ellipse">
            <a:avLst/>
          </a:prstGeom>
          <a:solidFill>
            <a:srgbClr val="DE498A">
              <a:alpha val="70000"/>
            </a:srgbClr>
          </a:solidFill>
          <a:ln w="6350">
            <a:solidFill>
              <a:srgbClr val="DE49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33488" y="18196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Акты подписаны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87768" y="273405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00242" y="2686014"/>
            <a:ext cx="256032" cy="256032"/>
          </a:xfrm>
          <a:prstGeom prst="ellipse">
            <a:avLst/>
          </a:prstGeom>
          <a:solidFill>
            <a:srgbClr val="DE498A">
              <a:alpha val="70000"/>
            </a:srgbClr>
          </a:solidFill>
          <a:ln w="6350">
            <a:solidFill>
              <a:srgbClr val="DE49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33488" y="27797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обучены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87768" y="3694176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1F4F7"/>
          </a:solidFill>
          <a:ln w="5080">
            <a:solidFill>
              <a:srgbClr val="E1E9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0242" y="3646134"/>
            <a:ext cx="256032" cy="256032"/>
          </a:xfrm>
          <a:prstGeom prst="ellipse">
            <a:avLst/>
          </a:prstGeom>
          <a:solidFill>
            <a:srgbClr val="DE498A">
              <a:alpha val="70000"/>
            </a:srgbClr>
          </a:solidFill>
          <a:ln w="6350">
            <a:solidFill>
              <a:srgbClr val="DE49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33488" y="373989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поддержки зафиксированы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8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457200"/>
            <a:ext cx="2926080" cy="2926080"/>
          </a:xfrm>
          <a:prstGeom prst="ellipse">
            <a:avLst/>
          </a:prstGeom>
          <a:solidFill>
            <a:srgbClr val="25C7B4">
              <a:alpha val="18000"/>
            </a:srgbClr>
          </a:solidFill>
          <a:ln w="6350">
            <a:solidFill>
              <a:srgbClr val="25C7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560320"/>
            <a:ext cx="2011680" cy="2011680"/>
          </a:xfrm>
          <a:prstGeom prst="ellipse">
            <a:avLst/>
          </a:prstGeom>
          <a:solidFill>
            <a:srgbClr val="514B77">
              <a:alpha val="25000"/>
            </a:srgbClr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2926080"/>
            <a:ext cx="1645920" cy="1645920"/>
          </a:xfrm>
          <a:prstGeom prst="ellipse">
            <a:avLst/>
          </a:prstGeom>
          <a:solidFill>
            <a:srgbClr val="3D988D">
              <a:alpha val="28000"/>
            </a:srgbClr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это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управляемый процесс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874520" cy="457200"/>
          </a:xfrm>
          <a:prstGeom prst="roundRect">
            <a:avLst>
              <a:gd name="adj" fmla="val 18000"/>
            </a:avLst>
          </a:prstGeom>
          <a:solidFill>
            <a:srgbClr val="CA4380"/>
          </a:solidFill>
          <a:ln w="12700">
            <a:solidFill>
              <a:srgbClr val="CA43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2560320"/>
            <a:ext cx="1874520" cy="457200"/>
          </a:xfrm>
          <a:prstGeom prst="roundRect">
            <a:avLst>
              <a:gd name="adj" fmla="val 18000"/>
            </a:avLst>
          </a:prstGeom>
          <a:solidFill>
            <a:srgbClr val="25C7B4"/>
          </a:solidFill>
          <a:ln w="12700">
            <a:solidFill>
              <a:srgbClr val="25C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1874520" cy="457200"/>
          </a:xfrm>
          <a:prstGeom prst="roundRect">
            <a:avLst>
              <a:gd name="adj" fmla="val 18000"/>
            </a:avLst>
          </a:prstGeom>
          <a:solidFill>
            <a:srgbClr val="3D988D"/>
          </a:solidFill>
          <a:ln w="12700">
            <a:solidFill>
              <a:srgbClr val="3D98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договорённостей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1874520" cy="457200"/>
          </a:xfrm>
          <a:prstGeom prst="roundRect">
            <a:avLst>
              <a:gd name="adj" fmla="val 18000"/>
            </a:avLst>
          </a:prstGeom>
          <a:solidFill>
            <a:srgbClr val="514B77"/>
          </a:solidFill>
          <a:ln w="12700">
            <a:solidFill>
              <a:srgbClr val="514B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Совместное создание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1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Применяйте технологию на каждом этапе — и клиент станет вашим лучшим союзником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1256</Words>
  <Application>Microsoft Macintosh PowerPoint</Application>
  <PresentationFormat>Экран (16:9)</PresentationFormat>
  <Paragraphs>303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реализации проекта 1С — Обучение менеджеров</dc:title>
  <dc:subject>PptxGenJS Presentation</dc:subject>
  <dc:creator>PptxGenJS</dc:creator>
  <cp:lastModifiedBy>Microsoft Office User</cp:lastModifiedBy>
  <cp:revision>3</cp:revision>
  <dcterms:created xsi:type="dcterms:W3CDTF">2026-06-09T06:30:28Z</dcterms:created>
  <dcterms:modified xsi:type="dcterms:W3CDTF">2026-06-26T10:46:58Z</dcterms:modified>
</cp:coreProperties>
</file>